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MAPIE V4.15: Star Schema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Machine Learning Assisted Prediction &amp; Inference Engine | MAPE: 34.60%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FBBC0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Training Data</a:t>
            </a:r>
            <a:br/>
            <a:r>
              <a:t>(Netflix Ground Truth)</a:t>
            </a:r>
            <a:br/>
            <a:r>
              <a:t>1,863 titles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325880" y="2103120"/>
            <a:ext cx="274320" cy="457200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011680" cy="64008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t>Feature Engineering</a:t>
            </a:r>
            <a:br/>
            <a:r>
              <a:t>233 Clean Features</a:t>
            </a:r>
            <a:br/>
            <a:r>
              <a:t>(No Views Leakage)</a:t>
            </a:r>
          </a:p>
        </p:txBody>
      </p:sp>
      <p:sp>
        <p:nvSpPr>
          <p:cNvPr id="7" name="Down Arrow 6"/>
          <p:cNvSpPr/>
          <p:nvPr/>
        </p:nvSpPr>
        <p:spPr>
          <a:xfrm>
            <a:off x="1325880" y="3291840"/>
            <a:ext cx="274320" cy="457199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182880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t>XGBoost</a:t>
            </a:r>
            <a:br/>
            <a:r>
              <a:t>300 Trees</a:t>
            </a:r>
            <a:br/>
            <a:r>
              <a:t>GPU CUDA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t>CatBoost</a:t>
            </a:r>
            <a:br/>
            <a:r>
              <a:t>300 Trees</a:t>
            </a:r>
            <a:br/>
            <a:r>
              <a:t>GPU CUDA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108960"/>
            <a:ext cx="1828800" cy="731520"/>
          </a:xfrm>
          <a:prstGeom prst="roundRect">
            <a:avLst/>
          </a:prstGeom>
          <a:solidFill>
            <a:srgbClr val="34A853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t>Ensemble Average</a:t>
            </a:r>
            <a:br/>
            <a:r>
              <a:t>R² = 0.62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280160"/>
            <a:ext cx="3017520" cy="45720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t>BFD V4.12 Input (768,641 titles)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1737360"/>
            <a:ext cx="274320" cy="91440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3749039" y="2743200"/>
            <a:ext cx="274320" cy="365759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669280" y="2743200"/>
            <a:ext cx="274320" cy="365759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4114800"/>
            <a:ext cx="182880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/>
            </a:pPr>
            <a:r>
              <a:t>Calibration</a:t>
            </a:r>
            <a:br/>
            <a:r>
              <a:t>Factor: 1.18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663440" y="3840480"/>
            <a:ext cx="274320" cy="274319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828800"/>
            <a:ext cx="2286000" cy="1371600"/>
          </a:xfrm>
          <a:prstGeom prst="roundRect">
            <a:avLst/>
          </a:prstGeom>
          <a:solidFill>
            <a:srgbClr val="34A853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Cranberry BFD</a:t>
            </a:r>
            <a:br/>
            <a:r>
              <a:t>V4.15</a:t>
            </a:r>
            <a:br/>
            <a:br/>
            <a:r>
              <a:t>768,641 rows</a:t>
            </a:r>
            <a:br/>
            <a:r>
              <a:t>1,702 columns</a:t>
            </a:r>
            <a:br/>
            <a:r>
              <a:t>2.83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828800"/>
            <a:ext cx="2286000" cy="1371600"/>
          </a:xfrm>
          <a:prstGeom prst="roundRect">
            <a:avLst/>
          </a:prstGeom>
          <a:solidFill>
            <a:srgbClr val="00968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/>
            </a:pPr>
            <a:r>
              <a:t>Star Schema</a:t>
            </a:r>
            <a:br/>
            <a:r>
              <a:t>V4.15</a:t>
            </a:r>
            <a:br/>
            <a:br/>
            <a:r>
              <a:t>207M rows</a:t>
            </a:r>
            <a:br/>
            <a:r>
              <a:t>4 columns</a:t>
            </a:r>
            <a:br/>
            <a:r>
              <a:t>583 MB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15000" y="4434840"/>
            <a:ext cx="274320" cy="274320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8001000" y="3200400"/>
            <a:ext cx="274320" cy="457200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10561320" y="3200400"/>
            <a:ext cx="274320" cy="457200"/>
          </a:xfrm>
          <a:prstGeom prst="down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75120" y="3749039"/>
            <a:ext cx="2651760" cy="109728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/>
            </a:pPr>
            <a:r>
              <a:t>• fc_uid (Primary Key)</a:t>
            </a:r>
            <a:br/>
            <a:r>
              <a:t>• title, imdb_id</a:t>
            </a:r>
            <a:br/>
            <a:r>
              <a:t>• All metadata</a:t>
            </a:r>
            <a:br/>
            <a:r>
              <a:t>• views_y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749039"/>
            <a:ext cx="2651760" cy="1097280"/>
          </a:xfrm>
          <a:prstGeom prst="roundRect">
            <a:avLst/>
          </a:prstGeom>
          <a:solidFill>
            <a:srgbClr val="C8C8C8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/>
            </a:pPr>
            <a:r>
              <a:t>• fc_uid (Foreign Key)</a:t>
            </a:r>
            <a:br/>
            <a:r>
              <a:t>• country (18)</a:t>
            </a:r>
            <a:br/>
            <a:r>
              <a:t>• platform (15)</a:t>
            </a:r>
            <a:br/>
            <a:r>
              <a:t>• views (allocated)</a:t>
            </a:r>
          </a:p>
        </p:txBody>
      </p:sp>
      <p:sp>
        <p:nvSpPr>
          <p:cNvPr id="24" name="Left-Right Arrow 23"/>
          <p:cNvSpPr/>
          <p:nvPr/>
        </p:nvSpPr>
        <p:spPr>
          <a:xfrm>
            <a:off x="8229600" y="2286000"/>
            <a:ext cx="1188720" cy="457200"/>
          </a:xfrm>
          <a:prstGeom prst="leftRightArrow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JOIN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MAPE: 34.60% (Mean) | 21.79% (Median)  •  R²: 0.62  •  Runtime: 8m 31s (GPU)  •  Total Views: 6.18 Trillion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Countries: US, CN, IN, GB, BR, DE, JP, FR, CA, MX, AU, ES, IT, KR, NL, SE, SG, ROW</a:t>
            </a:r>
            <a:br/>
            <a:r>
              <a:t>Platforms: netflix, prime, hulu, disney, hbo, peacock, apple, paramount, starz, discovery, tubi, plutotv, britbox, mubi, curiosity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